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1c2e0b3c24f42" /><Relationship Type="http://schemas.openxmlformats.org/officeDocument/2006/relationships/extended-properties" Target="/docProps/app.xml" Id="R45fa32eb4d9e4cbf" /><Relationship Type="http://schemas.openxmlformats.org/officeDocument/2006/relationships/officeDocument" Target="/ppt/presentation.xml" Id="R769502a4a4c445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12bbca5f0f4cd5"/>
  </p:sldMasterIdLst>
  <p:notesMasterIdLst>
    <p:notesMasterId xmlns:r="http://schemas.openxmlformats.org/officeDocument/2006/relationships" r:id="R04220552a9604ce8"/>
  </p:notesMasterIdLst>
  <p:sldIdLst>
    <p:sldId xmlns:r="http://schemas.openxmlformats.org/officeDocument/2006/relationships" id="256" r:id="Re66eedcb247e4c44"/>
    <p:sldId xmlns:r="http://schemas.openxmlformats.org/officeDocument/2006/relationships" id="257" r:id="R0ac63c5f0c884e34"/>
    <p:sldId xmlns:r="http://schemas.openxmlformats.org/officeDocument/2006/relationships" id="258" r:id="R811d74960d3c4ce8"/>
    <p:sldId xmlns:r="http://schemas.openxmlformats.org/officeDocument/2006/relationships" id="259" r:id="Rf2e25200c2fc4b9d"/>
    <p:sldId xmlns:r="http://schemas.openxmlformats.org/officeDocument/2006/relationships" id="260" r:id="Rb627bef7bf9d4c5b"/>
    <p:sldId xmlns:r="http://schemas.openxmlformats.org/officeDocument/2006/relationships" id="261" r:id="Rf824b27488164d56"/>
    <p:sldId xmlns:r="http://schemas.openxmlformats.org/officeDocument/2006/relationships" id="262" r:id="R81471fc6403b49af"/>
    <p:sldId xmlns:r="http://schemas.openxmlformats.org/officeDocument/2006/relationships" id="263" r:id="R29320ac9d25b432c"/>
    <p:sldId xmlns:r="http://schemas.openxmlformats.org/officeDocument/2006/relationships" id="264" r:id="Rd9f9824ae8ca4e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6e5dc3133d40be" /><Relationship Type="http://schemas.openxmlformats.org/officeDocument/2006/relationships/slideMaster" Target="/ppt/slideMasters/slideMaster1.xml" Id="Rbb12bbca5f0f4cd5" /><Relationship Type="http://schemas.openxmlformats.org/officeDocument/2006/relationships/notesMaster" Target="/ppt/notesMasters/notesMaster1.xml" Id="R04220552a9604ce8" /><Relationship Type="http://schemas.openxmlformats.org/officeDocument/2006/relationships/presProps" Target="/ppt/presProps.xml" Id="R5199c364fb764463" /><Relationship Type="http://schemas.openxmlformats.org/officeDocument/2006/relationships/tableStyles" Target="/ppt/tableStyles.xml" Id="Re20f8005191d4de0" /><Relationship Type="http://schemas.openxmlformats.org/officeDocument/2006/relationships/slide" Target="/ppt/slides/slide1.xml" Id="Re66eedcb247e4c44" /><Relationship Type="http://schemas.openxmlformats.org/officeDocument/2006/relationships/slide" Target="/ppt/slides/slide2.xml" Id="R0ac63c5f0c884e34" /><Relationship Type="http://schemas.openxmlformats.org/officeDocument/2006/relationships/slide" Target="/ppt/slides/slide3.xml" Id="R811d74960d3c4ce8" /><Relationship Type="http://schemas.openxmlformats.org/officeDocument/2006/relationships/slide" Target="/ppt/slides/slide4.xml" Id="Rf2e25200c2fc4b9d" /><Relationship Type="http://schemas.openxmlformats.org/officeDocument/2006/relationships/slide" Target="/ppt/slides/slide5.xml" Id="Rb627bef7bf9d4c5b" /><Relationship Type="http://schemas.openxmlformats.org/officeDocument/2006/relationships/slide" Target="/ppt/slides/slide6.xml" Id="Rf824b27488164d56" /><Relationship Type="http://schemas.openxmlformats.org/officeDocument/2006/relationships/slide" Target="/ppt/slides/slide7.xml" Id="R81471fc6403b49af" /><Relationship Type="http://schemas.openxmlformats.org/officeDocument/2006/relationships/slide" Target="/ppt/slides/slide8.xml" Id="R29320ac9d25b432c" /><Relationship Type="http://schemas.openxmlformats.org/officeDocument/2006/relationships/slide" Target="/ppt/slides/slide9.xml" Id="Rd9f9824ae8ca4e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4c4fbe849644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a9721b59694558" /><Relationship Type="http://schemas.openxmlformats.org/officeDocument/2006/relationships/notesMaster" Target="/ppt/notesMasters/notesMaster1.xml" Id="Rf149f31619ec48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0d08317dd345c5" /><Relationship Type="http://schemas.openxmlformats.org/officeDocument/2006/relationships/notesMaster" Target="/ppt/notesMasters/notesMaster1.xml" Id="R4a8452f1320049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247bb656ea443a" /><Relationship Type="http://schemas.openxmlformats.org/officeDocument/2006/relationships/notesMaster" Target="/ppt/notesMasters/notesMaster1.xml" Id="R51ae8997750843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0f355c74394f0d" /><Relationship Type="http://schemas.openxmlformats.org/officeDocument/2006/relationships/notesMaster" Target="/ppt/notesMasters/notesMaster1.xml" Id="R1acd8331a87541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c9e5755f624002" /><Relationship Type="http://schemas.openxmlformats.org/officeDocument/2006/relationships/notesMaster" Target="/ppt/notesMasters/notesMaster1.xml" Id="R7d8f8819dcbd48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cad7c6f06d4ee2" /><Relationship Type="http://schemas.openxmlformats.org/officeDocument/2006/relationships/notesMaster" Target="/ppt/notesMasters/notesMaster1.xml" Id="R3bd683d1fca74d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a635f66934eb4" /><Relationship Type="http://schemas.openxmlformats.org/officeDocument/2006/relationships/notesMaster" Target="/ppt/notesMasters/notesMaster1.xml" Id="Rfdfcedb8b1024e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539452b5754b20" /><Relationship Type="http://schemas.openxmlformats.org/officeDocument/2006/relationships/notesMaster" Target="/ppt/notesMasters/notesMaster1.xml" Id="Rff4a17fbe014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bb10784d6c4732" /><Relationship Type="http://schemas.openxmlformats.org/officeDocument/2006/relationships/notesMaster" Target="/ppt/notesMasters/notesMaster1.xml" Id="R290fd12bc38340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Ouvrir sur l’expérience du porteur : un retour encourageant ne le prépare pas nécessairement à la question qui fera tomber son pitch. Ne revendiquer aucun résultat expérimental à ce stade.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spec/01-arbitrage-et-personas.md</a:t>
            </a:r>
          </a:p>
          <a:p xmlns:a="http://schemas.openxmlformats.org/drawingml/2006/main">
            <a:r>
              <a:t>- spec/02-format-de-sortie.md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Formuler ces points comme risques de conception, pas comme résultats déjà observés sur la maquette.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spec/01-arbitrage-et-personas.md</a:t>
            </a:r>
          </a:p>
          <a:p xmlns:a="http://schemas.openxmlformats.org/drawingml/2006/main">
            <a:r>
              <a:t>- spec/02-format-de-sortie.md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le refus de l’automatisation de la décision. Le produit s’adresse au SUM, pas directement au porteur.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spec/02-format-de-sortie.md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que l’étanchéité est une définition opérationnelle à documenter dans le manifeste. Ne pas dire qu’elle est prouvée par la seule existence de cinq appels.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spec/01-arbitrage-et-personas.md</a:t>
            </a:r>
          </a:p>
          <a:p xmlns:a="http://schemas.openxmlformats.org/drawingml/2006/main">
            <a:r>
              <a:t>- spec/03-brief-demonstrateur-sol46.md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Basculer vers /demo/ pour la séquence projecteur. Ne pas commenter de résultat puisque la sortie B0 n’est pas encore capturée et que la colonne droite est un format 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spec/02-format-de-sortie.md</a:t>
            </a:r>
          </a:p>
          <a:p xmlns:a="http://schemas.openxmlformats.org/drawingml/2006/main">
            <a:r>
              <a:t>- spec/11-frontiere-demo-production.md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Donner un exemple de même ancre susceptible de recevoir deux lectures différentes, sans annoncer le verdict attendu d’un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spec/01-arbitrage-et-personas.md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slide protège contre l’inflation de modalité. Employer établir, documenter, attester et observer avec précision.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spec/01-arbitrage-et-personas.md</a:t>
            </a:r>
          </a:p>
          <a:p xmlns:a="http://schemas.openxmlformats.org/drawingml/2006/main">
            <a:r>
              <a:t>- spec/04-seuil-de-divergence.md</a:t>
            </a:r>
          </a:p>
          <a:p xmlns:a="http://schemas.openxmlformats.org/drawingml/2006/main">
            <a:r>
              <a:t>- spec/11-frontiere-demo-production.md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Goodweek est un candidat à qualifier, pas un environnement déjà qualifié. Ne pas présenter l’auto-hébergement comme l’unique architecture admissible ni comme une preuve de sécurité.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spec/11-frontiere-demo-production.md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Finir sobrement. Si les résultats expérimentaux ne sont pas encore disponibles, ne rien ajouter. Une fois les runs gelés, la conclusion pourra être mise à jour sur la base des seules observations documentées.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spec/02-format-de-sortie.md</a:t>
            </a:r>
          </a:p>
          <a:p xmlns:a="http://schemas.openxmlformats.org/drawingml/2006/main">
            <a:r>
              <a:t>- spec/11-frontiere-demo-production.md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24930c76846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6954b2ba784090" /><Relationship Type="http://schemas.openxmlformats.org/officeDocument/2006/relationships/slideLayout" Target="/ppt/slideLayouts/slideLayout1.xml" Id="Rb6c2a19edc6e4f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c2a19edc6e4f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f6a30e812426c" /><Relationship Type="http://schemas.openxmlformats.org/officeDocument/2006/relationships/notesSlide" Target="/ppt/notesSlides/notesSlide1.xml" Id="Rfdb7a004e69f4c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abcd229be41b8" /><Relationship Type="http://schemas.openxmlformats.org/officeDocument/2006/relationships/notesSlide" Target="/ppt/notesSlides/notesSlide2.xml" Id="Ra2ecfe190db840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a7474d9ae4162" /><Relationship Type="http://schemas.openxmlformats.org/officeDocument/2006/relationships/notesSlide" Target="/ppt/notesSlides/notesSlide3.xml" Id="R36968a3f305e41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460abb6004020" /><Relationship Type="http://schemas.openxmlformats.org/officeDocument/2006/relationships/notesSlide" Target="/ppt/notesSlides/notesSlide4.xml" Id="R5768246cf5ba49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e29595ba94c95" /><Relationship Type="http://schemas.openxmlformats.org/officeDocument/2006/relationships/notesSlide" Target="/ppt/notesSlides/notesSlide5.xml" Id="Rfaba92b1f48140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0a85ab7c44c6c" /><Relationship Type="http://schemas.openxmlformats.org/officeDocument/2006/relationships/notesSlide" Target="/ppt/notesSlides/notesSlide6.xml" Id="Rd3c4498481f548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9ce9556ec47f1" /><Relationship Type="http://schemas.openxmlformats.org/officeDocument/2006/relationships/notesSlide" Target="/ppt/notesSlides/notesSlide7.xml" Id="R529a1353af9540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5414139704407" /><Relationship Type="http://schemas.openxmlformats.org/officeDocument/2006/relationships/notesSlide" Target="/ppt/notesSlides/notesSlide8.xml" Id="R5944ae87721943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e73e06d8347d2" /><Relationship Type="http://schemas.openxmlformats.org/officeDocument/2006/relationships/notesSlide" Target="/ppt/notesSlides/notesSlide9.xml" Id="R790af0f9792141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D1967-46A0-4210-91ED-EC28020F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4335"/>
                </a:solidFill>
              </a:defRPr>
            </a:pPr>
            <a:r>
              <a:rPr sz="975" b="1">
                <a:solidFill>
                  <a:srgbClr val="C64335"/>
                </a:solidFill>
              </a:rPr>
              <a:t>THE QAMP · 9–10 SEPTEMBRE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0C776-84E0-4AA1-826C-6A7B6393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723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D1D1B"/>
                </a:solidFill>
              </a:defRPr>
            </a:pPr>
            <a:r>
              <a:rPr sz="4800" b="1">
                <a:solidFill>
                  <a:srgbClr val="1D1D1B"/>
                </a:solidFill>
              </a:rPr>
              <a:t>La question que personne n’a posée.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9149C-8057-4223-AEF0-F0C8E6D9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C6A64"/>
                </a:solidFill>
              </a:defRPr>
            </a:pPr>
            <a:r>
              <a:rPr sz="1875" b="0">
                <a:solidFill>
                  <a:srgbClr val="6C6A64"/>
                </a:solidFill>
              </a:rPr>
              <a:t>Le Contradicteur prépare un porteur aux points de rupture et aux questions d’un Comité d’Engagement.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D7A5D-08C6-45CF-AAEF-60384A42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B7A"/>
                </a:solidFill>
              </a:defRPr>
            </a:pPr>
            <a:r>
              <a:rPr sz="1350" b="1">
                <a:solidFill>
                  <a:srgbClr val="506B7A"/>
                </a:solidFill>
              </a:rPr>
              <a:t>Cinq lectures antagonistes. Une consolidation sans moyenne.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8D040-3ADC-46D9-8001-13DF4B25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095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31466-9B97-4924-8BE4-D3079B72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24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A1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A68DF-F978-46E9-89B2-FE98E26F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20955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0E9A6-B4D4-4B3F-902F-3E2B7AFC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24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A2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897B9-D08B-4FA8-A86B-410D0463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28850"/>
            <a:ext cx="209550" cy="2114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E119F-A956-4903-853E-8D1875BB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524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A3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55EF4-0A89-4F36-9EA0-A46AF60C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47925"/>
            <a:ext cx="2095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97A59-4245-4EC2-8EE8-E88AF9C8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524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A4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0359E-5ECD-4221-9792-50054E5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314575"/>
            <a:ext cx="20955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39BD7-74D0-410D-9CD1-DBE58AD0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524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A5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8175A-7DAE-4070-9701-327C8BE2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46645-9F14-4750-A6A1-B4409B44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53000"/>
            <a:ext cx="2667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</a:defRPr>
            </a:pPr>
            <a:r>
              <a:rPr sz="900" b="1">
                <a:solidFill>
                  <a:srgbClr val="FFFDF8"/>
                </a:solidFill>
              </a:rPr>
              <a:t>ARBITRER SANS MOYENNER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C3554-C1E3-485C-B3CD-1ECBE69B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8AE7B-B8D9-4DED-90EE-5764A8F7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01 / 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7CBF1-3658-4188-A305-E160D6CE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29375"/>
            <a:ext cx="910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6A64"/>
                </a:solidFill>
              </a:defRPr>
            </a:pPr>
            <a:r>
              <a:rPr sz="750" b="1">
                <a:solidFill>
                  <a:srgbClr val="6C6A64"/>
                </a:solidFill>
              </a:rPr>
              <a:t>MAQUETTE SIMULÉE  ·  SANDBOX · DONNÉES FICTIVES  ·  AUCUN APPEL IA</a:t>
            </a:r>
          </a:p>
        </p:txBody>
      </p:sp>
    </p:spTree>
    <p:extLst>
      <p:ext uri="{BB962C8B-B14F-4D97-AF65-F5344CB8AC3E}">
        <p14:creationId xmlns:p14="http://schemas.microsoft.com/office/powerpoint/2010/main" val="1455236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BFE2D-9B56-41A8-AAD0-1F4D4034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LE PROBLÈME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74E2D-75A8-4688-A626-8A625D29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B"/>
                </a:solidFill>
              </a:defRPr>
            </a:pPr>
            <a:r>
              <a:rPr sz="3300" b="1">
                <a:solidFill>
                  <a:srgbClr val="1D1D1B"/>
                </a:solidFill>
              </a:rPr>
              <a:t>Un retour utile n’est pas un retour rassurant.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87988-FCA2-483B-AA55-A58D7C54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A64"/>
                </a:solidFill>
              </a:defRPr>
            </a:pPr>
            <a:r>
              <a:rPr sz="1500" b="0">
                <a:solidFill>
                  <a:srgbClr val="6C6A64"/>
                </a:solidFill>
              </a:rPr>
              <a:t>Un prompt généraliste peut lisser le désaccord : il résume, encourage et améliore la forme. Le comité, lui, cherche ce qui ne tient pas.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1C542-DF56-4C07-A2C0-38A30942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705350" cy="30289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9525">
            <a:solidFill>
              <a:srgbClr val="1D1D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25C63-8EDA-42E8-BE04-D25AC07D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40576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DF8"/>
                </a:solidFill>
              </a:defRPr>
            </a:pPr>
            <a:r>
              <a:rPr sz="2625" b="1">
                <a:solidFill>
                  <a:srgbClr val="FFFDF8"/>
                </a:solidFill>
              </a:rPr>
              <a:t>Le risque n’est pas seulement la mauvaise réponse. C’est la question absente.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763AA-1B29-4E55-92F6-8A3B2D02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335"/>
          </a:solidFill>
          <a:ln xmlns:a="http://schemas.openxmlformats.org/drawingml/2006/main" w="0">
            <a:solidFill>
              <a:srgbClr val="C643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BB23D-C3FF-4D50-A335-7D8C89EF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00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4335"/>
                </a:solidFill>
              </a:defRPr>
            </a:pPr>
            <a:r>
              <a:rPr sz="1050" b="1">
                <a:solidFill>
                  <a:srgbClr val="C6433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F9AD7-B195-42FE-AF27-58ADB09E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B"/>
                </a:solidFill>
              </a:defRPr>
            </a:pPr>
            <a:r>
              <a:rPr sz="1500" b="1">
                <a:solidFill>
                  <a:srgbClr val="1D1D1B"/>
                </a:solidFill>
              </a:rPr>
              <a:t>La même lecture du dossier se répète sous plusieurs formulations.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3AECC-EA00-4C7A-9F93-33D3FEA5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43300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BC458-EC0F-4D27-B03E-A16E2DA7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14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4335"/>
                </a:solidFill>
              </a:defRPr>
            </a:pPr>
            <a:r>
              <a:rPr sz="1050" b="1">
                <a:solidFill>
                  <a:srgbClr val="C643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7078B-52E2-4A50-9A7A-0E000522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B"/>
                </a:solidFill>
              </a:defRPr>
            </a:pPr>
            <a:r>
              <a:rPr sz="1500" b="0">
                <a:solidFill>
                  <a:srgbClr val="1D1D1B"/>
                </a:solidFill>
              </a:rPr>
              <a:t>Une information manquante est parfois complétée au lieu d’être interrogée.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22E7F-5F77-4BD0-9F5E-CFDCFEC3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57700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77726-7912-4DBC-A9E9-018C5A08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4335"/>
                </a:solidFill>
              </a:defRPr>
            </a:pPr>
            <a:r>
              <a:rPr sz="1050" b="1">
                <a:solidFill>
                  <a:srgbClr val="C643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110A-B0A7-40D7-A296-297D1978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B"/>
                </a:solidFill>
              </a:defRPr>
            </a:pPr>
            <a:r>
              <a:rPr sz="1500" b="0">
                <a:solidFill>
                  <a:srgbClr val="1D1D1B"/>
                </a:solidFill>
              </a:rPr>
              <a:t>Des objections indépendantes sont moyennées en une recommandation tiède.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08C3E-CF04-4159-A2C5-B8FF13D8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F30DD-1B01-4E5F-9F88-8CB718BB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02 / 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33D33-9F88-4CE9-BAEE-25E1E7B9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29375"/>
            <a:ext cx="910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6A64"/>
                </a:solidFill>
              </a:defRPr>
            </a:pPr>
            <a:r>
              <a:rPr sz="750" b="1">
                <a:solidFill>
                  <a:srgbClr val="6C6A64"/>
                </a:solidFill>
              </a:rPr>
              <a:t>MAQUETTE SIMULÉE  ·  SANDBOX · DONNÉES FICTIVES  ·  AUCUN APPEL IA</a:t>
            </a:r>
          </a:p>
        </p:txBody>
      </p:sp>
    </p:spTree>
    <p:extLst>
      <p:ext uri="{BB962C8B-B14F-4D97-AF65-F5344CB8AC3E}">
        <p14:creationId xmlns:p14="http://schemas.microsoft.com/office/powerpoint/2010/main" val="790469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E4C47-27D0-4E06-8271-92251CF2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LE RÔLE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B9E8F-16F4-4CAF-984A-0C21E880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B"/>
                </a:solidFill>
              </a:defRPr>
            </a:pPr>
            <a:r>
              <a:rPr sz="3300" b="1">
                <a:solidFill>
                  <a:srgbClr val="1D1D1B"/>
                </a:solidFill>
              </a:rPr>
              <a:t>Le dispositif produit des questions. Le SUM garde le jugement.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8C579-E09A-4E6C-849D-19C217B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A64"/>
                </a:solidFill>
              </a:defRPr>
            </a:pPr>
            <a:r>
              <a:rPr sz="1500" b="0">
                <a:solidFill>
                  <a:srgbClr val="6C6A64"/>
                </a:solidFill>
              </a:rPr>
              <a:t>Le rapport tient sur une page, hiérarchise jusqu’à trois ruptures et formule quatre à six questions à poser à voix haute.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37F1C-B4A8-4249-AF8E-BAB90A77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314950" cy="29718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9525">
            <a:solidFill>
              <a:srgbClr val="1D1D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C4A51-BA41-40A9-BD1B-AEE997D6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8"/>
                </a:solidFill>
              </a:defRPr>
            </a:pPr>
            <a:r>
              <a:rPr sz="1875" b="1">
                <a:solidFill>
                  <a:srgbClr val="FFFDF8"/>
                </a:solidFill>
              </a:rPr>
              <a:t>Le Contradicteur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D5328-FC38-4EBB-A1EA-C57711FB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335"/>
          </a:solidFill>
          <a:ln xmlns:a="http://schemas.openxmlformats.org/drawingml/2006/main" w="0">
            <a:solidFill>
              <a:srgbClr val="C643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44E6B-CC32-451A-A2BE-0087EEC3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8"/>
                </a:solidFill>
              </a:defRPr>
            </a:pPr>
            <a:r>
              <a:rPr sz="1425" b="0">
                <a:solidFill>
                  <a:srgbClr val="FFFDF8"/>
                </a:solidFill>
              </a:rPr>
              <a:t>—  Isole les lectures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30B85-9335-41A5-B02F-A0C39EA6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7672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8"/>
                </a:solidFill>
              </a:defRPr>
            </a:pPr>
            <a:r>
              <a:rPr sz="1425" b="0">
                <a:solidFill>
                  <a:srgbClr val="FFFDF8"/>
                </a:solidFill>
              </a:rPr>
              <a:t>—  Rattache chaque reproche à une citation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CE687-96A8-4E05-ABF4-8EDB9AD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8"/>
                </a:solidFill>
              </a:defRPr>
            </a:pPr>
            <a:r>
              <a:rPr sz="1425" b="0">
                <a:solidFill>
                  <a:srgbClr val="FFFDF8"/>
                </a:solidFill>
              </a:rPr>
              <a:t>—  Déclare ce qui n’a pas été instruit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2F573-DF18-435A-A81A-C0535919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5314950" cy="29718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095FE-51C0-42CC-B40C-349C56AC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956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B"/>
                </a:solidFill>
              </a:defRPr>
            </a:pPr>
            <a:r>
              <a:rPr sz="1875" b="1">
                <a:solidFill>
                  <a:srgbClr val="1D1D1B"/>
                </a:solidFill>
              </a:rPr>
              <a:t>Le Startup 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9773F-7B7E-4296-A22A-43888E1D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4805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B7A"/>
          </a:solidFill>
          <a:ln xmlns:a="http://schemas.openxmlformats.org/drawingml/2006/main" w="0">
            <a:solidFill>
              <a:srgbClr val="506B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C4470-B2E8-41F2-8EE3-48E2D1E0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1D1B"/>
                </a:solidFill>
              </a:defRPr>
            </a:pPr>
            <a:r>
              <a:rPr sz="1425" b="0">
                <a:solidFill>
                  <a:srgbClr val="1D1D1B"/>
                </a:solidFill>
              </a:rPr>
              <a:t>—  Choisit les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A30E8-9CCE-4565-8D11-E1D11C77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7672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1D1B"/>
                </a:solidFill>
              </a:defRPr>
            </a:pPr>
            <a:r>
              <a:rPr sz="1425" b="0">
                <a:solidFill>
                  <a:srgbClr val="1D1D1B"/>
                </a:solidFill>
              </a:rPr>
              <a:t>—  Conduit l’entretien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F74E5-E8B9-4DFE-BC21-88A723EA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006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1D1B"/>
                </a:solidFill>
              </a:defRPr>
            </a:pPr>
            <a:r>
              <a:rPr sz="1425" b="0">
                <a:solidFill>
                  <a:srgbClr val="1D1D1B"/>
                </a:solidFill>
              </a:rPr>
              <a:t>—  Décide quoi dire, quand et comment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4EA32-1DC4-4028-B9BE-C40C4FDA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6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A64"/>
                </a:solidFill>
              </a:defRPr>
            </a:pPr>
            <a:r>
              <a:rPr sz="975" b="1">
                <a:solidFill>
                  <a:srgbClr val="6C6A64"/>
                </a:solidFill>
              </a:rPr>
              <a:t>Ce document ne se transmet pas au porteur. Il prépare un entretien, il ne le remplace pas.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AB01C-2439-4ADD-81AE-D7183863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B649C-C5C3-4936-A4EF-268E883E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03 / 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3F5015-6969-411F-9066-F9970301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29375"/>
            <a:ext cx="910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6A64"/>
                </a:solidFill>
              </a:defRPr>
            </a:pPr>
            <a:r>
              <a:rPr sz="750" b="1">
                <a:solidFill>
                  <a:srgbClr val="6C6A64"/>
                </a:solidFill>
              </a:rPr>
              <a:t>MAQUETTE SIMULÉE  ·  SANDBOX · DONNÉES FICTIVES  ·  AUCUN APPEL IA</a:t>
            </a:r>
          </a:p>
        </p:txBody>
      </p:sp>
    </p:spTree>
    <p:extLst>
      <p:ext uri="{BB962C8B-B14F-4D97-AF65-F5344CB8AC3E}">
        <p14:creationId xmlns:p14="http://schemas.microsoft.com/office/powerpoint/2010/main" val="1143293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836D5E-94ED-4D01-A2C7-C679061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L’ARCHITECTURE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792F0-3BF1-4907-A72E-173A90B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B"/>
                </a:solidFill>
              </a:defRPr>
            </a:pPr>
            <a:r>
              <a:rPr sz="3300" b="1">
                <a:solidFill>
                  <a:srgbClr val="1D1D1B"/>
                </a:solidFill>
              </a:rPr>
              <a:t>La divergence ne se demande pas. Elle se construit.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7FC51-EAE6-44B3-8C3C-732D7D0D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A64"/>
                </a:solidFill>
              </a:defRPr>
            </a:pPr>
            <a:r>
              <a:rPr sz="1500" b="0">
                <a:solidFill>
                  <a:srgbClr val="6C6A64"/>
                </a:solidFill>
              </a:rPr>
              <a:t>Cinq contextes séparés reçoivent des découpes différentes du même pitch deck. Une sixième passe consolide les avis sans effacer un bloquant.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797A6-F75B-4DA3-8405-034890BE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695450" cy="2133600"/>
          </a:xfrm>
          <a:prstGeom xmlns:a="http://schemas.openxmlformats.org/drawingml/2006/main" prst="roundRect">
            <a:avLst>
              <a:gd name="adj" fmla="val 12360"/>
            </a:avLst>
          </a:prstGeom>
          <a:solidFill xmlns:a="http://schemas.openxmlformats.org/drawingml/2006/main">
            <a:srgbClr val="E8E0D2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81AD8-A5B0-4BE2-B87E-123621DC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F16E6-AFC0-4E34-99EB-5CEC406F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B"/>
                </a:solidFill>
              </a:defRPr>
            </a:pPr>
            <a:r>
              <a:rPr sz="1800" b="1">
                <a:solidFill>
                  <a:srgbClr val="1D1D1B"/>
                </a:solidFill>
              </a:rPr>
              <a:t>Entrée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37556-E454-495E-BA8F-5E9AFE88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4"/>
                </a:solidFill>
              </a:defRPr>
            </a:pPr>
            <a:r>
              <a:rPr sz="1200" b="0">
                <a:solidFill>
                  <a:srgbClr val="6C6A64"/>
                </a:solidFill>
              </a:rPr>
              <a:t>Pitch deck fictif normalisé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25A0B-9E03-43FC-9CEF-B9D2D19A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957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335"/>
          </a:solidFill>
          <a:ln xmlns:a="http://schemas.openxmlformats.org/drawingml/2006/main" w="0">
            <a:solidFill>
              <a:srgbClr val="C643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9BFE9-7369-4CC7-9CD1-B840984C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76550"/>
            <a:ext cx="1905000" cy="21336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DCE6E9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9CE54-90C5-4F18-97E4-AA4790D6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67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446C9-7F99-4333-8E7E-9FD116C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B"/>
                </a:solidFill>
              </a:defRPr>
            </a:pPr>
            <a:r>
              <a:rPr sz="1800" b="1">
                <a:solidFill>
                  <a:srgbClr val="1D1D1B"/>
                </a:solidFill>
              </a:rPr>
              <a:t>5 avis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07246-2EBE-4962-93E6-A8371FDE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386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4"/>
                </a:solidFill>
              </a:defRPr>
            </a:pPr>
            <a:r>
              <a:rPr sz="1200" b="0">
                <a:solidFill>
                  <a:srgbClr val="6C6A64"/>
                </a:solidFill>
              </a:rPr>
              <a:t>Objectifs, horizons et informations asymétriques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9A31D-623F-4561-B6AD-F32391C0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957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335"/>
          </a:solidFill>
          <a:ln xmlns:a="http://schemas.openxmlformats.org/drawingml/2006/main" w="0">
            <a:solidFill>
              <a:srgbClr val="C643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59C4E-FBC2-459F-99B7-266D983E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1981200" cy="21336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2BE4A-208F-400B-A8BE-B22FDBCA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AD30A-B618-423C-AC67-584F4610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24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B"/>
                </a:solidFill>
              </a:defRPr>
            </a:pPr>
            <a:r>
              <a:rPr sz="1800" b="1">
                <a:solidFill>
                  <a:srgbClr val="1D1D1B"/>
                </a:solidFill>
              </a:rPr>
              <a:t>Contrôles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39B68-45B4-45D4-A00C-CA0D453C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4"/>
                </a:solidFill>
              </a:defRPr>
            </a:pPr>
            <a:r>
              <a:rPr sz="1200" b="0">
                <a:solidFill>
                  <a:srgbClr val="6C6A64"/>
                </a:solidFill>
              </a:rPr>
              <a:t>Complétude, ancres, couverture, manifeste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12BAC-3284-4BE7-8E3A-07A0B918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957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335"/>
          </a:solidFill>
          <a:ln xmlns:a="http://schemas.openxmlformats.org/drawingml/2006/main" w="0">
            <a:solidFill>
              <a:srgbClr val="C643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2EAB7-0621-47CA-A79F-10E39696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76550"/>
            <a:ext cx="1885950" cy="2133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D9D3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B3B5C-4E8E-4BF3-AF7B-582EAF7E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63C1B-51F0-484F-9DA9-010CAE59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B"/>
                </a:solidFill>
              </a:defRPr>
            </a:pPr>
            <a:r>
              <a:rPr sz="1800" b="1">
                <a:solidFill>
                  <a:srgbClr val="1D1D1B"/>
                </a:solidFill>
              </a:rPr>
              <a:t>Arbitrage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3245B-61E4-4765-B94C-39D92420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38600"/>
            <a:ext cx="1466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4"/>
                </a:solidFill>
              </a:defRPr>
            </a:pPr>
            <a:r>
              <a:rPr sz="1200" b="0">
                <a:solidFill>
                  <a:srgbClr val="6C6A64"/>
                </a:solidFill>
              </a:rPr>
              <a:t>Hiérarchie sémantique, jamais une moyenne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C81D2-6376-41B4-9715-53A6F3A1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957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335"/>
          </a:solidFill>
          <a:ln xmlns:a="http://schemas.openxmlformats.org/drawingml/2006/main" w="0">
            <a:solidFill>
              <a:srgbClr val="C643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5B389-97FF-4004-BD0E-A4CF187A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1981200" cy="21336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9525">
            <a:solidFill>
              <a:srgbClr val="1D1D1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6EE42-B7AB-436D-AE40-E8E200E9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67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D9D3"/>
                </a:solidFill>
              </a:defRPr>
            </a:pPr>
            <a:r>
              <a:rPr sz="900" b="1">
                <a:solidFill>
                  <a:srgbClr val="F3D9D3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072D5-8983-4351-966B-FD4ECFC1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DF8"/>
                </a:solidFill>
              </a:defRPr>
            </a:pPr>
            <a:r>
              <a:rPr sz="1800" b="1">
                <a:solidFill>
                  <a:srgbClr val="FFFDF8"/>
                </a:solidFill>
              </a:rPr>
              <a:t>Sortie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E18536-06B8-4DCF-86EE-7C1EF9C4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386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DF8"/>
                </a:solidFill>
              </a:defRPr>
            </a:pPr>
            <a:r>
              <a:rPr sz="1200" b="0">
                <a:solidFill>
                  <a:srgbClr val="FFFDF8"/>
                </a:solidFill>
              </a:rPr>
              <a:t>Ruptures, questions, absences, résistance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EF58F-6E2F-41FB-8ADE-62F7EC92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06B7A"/>
                </a:solidFill>
              </a:defRPr>
            </a:pPr>
            <a:r>
              <a:rPr sz="900" b="1">
                <a:solidFill>
                  <a:srgbClr val="506B7A"/>
                </a:solidFill>
              </a:rPr>
              <a:t>MÊME MODÈLE · CONTEXTES SÉPARÉS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8A482B-2C66-4CC4-BC37-D6D0D2BE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1970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9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UN BLOQUANT NE SE MOYENNE PAS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DD1131-A21F-4669-B53E-EBBB09DD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366958-90C8-433F-AABE-E19ED617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04 / 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52764-8281-4BDA-9608-0402B996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29375"/>
            <a:ext cx="910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6A64"/>
                </a:solidFill>
              </a:defRPr>
            </a:pPr>
            <a:r>
              <a:rPr sz="750" b="1">
                <a:solidFill>
                  <a:srgbClr val="6C6A64"/>
                </a:solidFill>
              </a:rPr>
              <a:t>MAQUETTE SIMULÉE  ·  SANDBOX · DONNÉES FICTIVES  ·  AUCUN APPEL IA</a:t>
            </a:r>
          </a:p>
        </p:txBody>
      </p:sp>
    </p:spTree>
    <p:extLst>
      <p:ext uri="{BB962C8B-B14F-4D97-AF65-F5344CB8AC3E}">
        <p14:creationId xmlns:p14="http://schemas.microsoft.com/office/powerpoint/2010/main" val="565914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DB3DE-E770-4F33-9394-22E3CAAF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LA DÉMONSTRATION · 1 MINUTE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EC2C4-755E-418C-9BF5-59796610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B"/>
                </a:solidFill>
              </a:defRPr>
            </a:pPr>
            <a:r>
              <a:rPr sz="3300" b="1">
                <a:solidFill>
                  <a:srgbClr val="1D1D1B"/>
                </a:solidFill>
              </a:rPr>
              <a:t>Une comparaison honnête commence par ne pas écrire le témoin.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1B33A-5371-4A68-AF00-61D9EDC7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A64"/>
                </a:solidFill>
              </a:defRPr>
            </a:pPr>
            <a:r>
              <a:rPr sz="1500" b="0">
                <a:solidFill>
                  <a:srgbClr val="6C6A64"/>
                </a:solidFill>
              </a:rPr>
              <a:t>À gauche : le prompt B0 figé et sa sortie brute, à capturer. À droite : le format cible du rapport, montré ici sous forme simulée.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ADA92-8DD4-45A7-B785-A304E36F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314950" cy="29337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0CBC1-0557-4E4F-AA3E-AEC4E7D9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06B7A"/>
                </a:solidFill>
              </a:defRPr>
            </a:pPr>
            <a:r>
              <a:rPr sz="900" b="1">
                <a:solidFill>
                  <a:srgbClr val="506B7A"/>
                </a:solidFill>
              </a:rPr>
              <a:t>PROMPT B0 FIGÉ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8FEDF-007C-4E40-9F26-7CD87C27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1D1B"/>
                </a:solidFill>
              </a:defRPr>
            </a:pPr>
            <a:r>
              <a:rPr sz="2325" b="1">
                <a:solidFill>
                  <a:srgbClr val="1D1D1B"/>
                </a:solidFill>
              </a:rPr>
              <a:t>Sortie réelle à capturer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4AC17-5C1B-49EF-AFB9-E5ACDE30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464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A64"/>
                </a:solidFill>
              </a:defRPr>
            </a:pPr>
            <a:r>
              <a:rPr sz="1350" b="0">
                <a:solidFill>
                  <a:srgbClr val="6C6A64"/>
                </a:solidFill>
              </a:rPr>
              <a:t>Aucun texte de baseline n’est inventé pour la maquette.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01300-EA81-4DB1-B4DF-94380F32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5314950" cy="29337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9525">
            <a:solidFill>
              <a:srgbClr val="1D1D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B5DDF-0021-47AC-AB19-BF62FB1B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1940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9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FORMAT CIBLE SIMULÉ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D0462-7C7F-4CF7-A489-201843C5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DF8"/>
                </a:solidFill>
              </a:defRPr>
            </a:pPr>
            <a:r>
              <a:rPr sz="2325" b="1">
                <a:solidFill>
                  <a:srgbClr val="FFFDF8"/>
                </a:solidFill>
              </a:rPr>
              <a:t>Points de rupture → questions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14DBA-1007-4C0D-B7B8-DBA5969D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464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D9D3"/>
                </a:solidFill>
              </a:defRPr>
            </a:pPr>
            <a:r>
              <a:rPr sz="1350" b="0">
                <a:solidFill>
                  <a:srgbClr val="F3D9D3"/>
                </a:solidFill>
              </a:rPr>
              <a:t>Sandbox-17 est un gabarit visuel, pas un run et pas une mesure.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69592-04D5-420C-930C-41BA32A0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C6A64"/>
                </a:solidFill>
              </a:defRPr>
            </a:pPr>
            <a:r>
              <a:rPr sz="1050" b="1">
                <a:solidFill>
                  <a:srgbClr val="6C6A64"/>
                </a:solidFill>
              </a:rPr>
              <a:t>La maquette publique ne déclenche aucun appel 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6AD2C-758C-411B-8921-BDE0F7E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5FC2B-D8CC-4635-8060-AF9BC0CC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05 / 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719FE-30F7-485D-A533-94B9282D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29375"/>
            <a:ext cx="910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6A64"/>
                </a:solidFill>
              </a:defRPr>
            </a:pPr>
            <a:r>
              <a:rPr sz="750" b="1">
                <a:solidFill>
                  <a:srgbClr val="6C6A64"/>
                </a:solidFill>
              </a:rPr>
              <a:t>MAQUETTE SIMULÉE  ·  SANDBOX · DONNÉES FICTIVES  ·  AUCUN APPEL IA</a:t>
            </a:r>
          </a:p>
        </p:txBody>
      </p:sp>
    </p:spTree>
    <p:extLst>
      <p:ext uri="{BB962C8B-B14F-4D97-AF65-F5344CB8AC3E}">
        <p14:creationId xmlns:p14="http://schemas.microsoft.com/office/powerpoint/2010/main" val="6543335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A76EA6-AD15-4BB2-956C-324EDD83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LES CINQ POSTURES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FB3C3-3768-4984-AB52-9058C2CB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B"/>
                </a:solidFill>
              </a:defRPr>
            </a:pPr>
            <a:r>
              <a:rPr sz="3300" b="1">
                <a:solidFill>
                  <a:srgbClr val="1D1D1B"/>
                </a:solidFill>
              </a:rPr>
              <a:t>Cinq façons incompatibles d’appeler un dossier “solide”.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5DC0A-28BA-421F-BB2A-93F256F2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A64"/>
                </a:solidFill>
              </a:defRPr>
            </a:pPr>
            <a:r>
              <a:rPr sz="1500" b="0">
                <a:solidFill>
                  <a:srgbClr val="6C6A64"/>
                </a:solidFill>
              </a:rPr>
              <a:t>Les postures ne se partagent pas les critères QFC. Elles se heurtent sur les mêmes faits depuis des objectifs opposés.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2E290-2593-47DD-8E00-E42DDACB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087880" cy="2705100"/>
          </a:xfrm>
          <a:prstGeom xmlns:a="http://schemas.openxmlformats.org/drawingml/2006/main" prst="roundRect">
            <a:avLst>
              <a:gd name="adj" fmla="val 91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87B12-F2A8-45BE-82E6-689EDF2A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A1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CC196-37CB-4774-AAFA-CB281612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7068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B"/>
                </a:solidFill>
              </a:defRPr>
            </a:pPr>
            <a:r>
              <a:rPr sz="1350" b="1">
                <a:solidFill>
                  <a:srgbClr val="1D1D1B"/>
                </a:solidFill>
              </a:rPr>
              <a:t>L’Interchangeable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512B6-8356-452C-9A7E-FB7095A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B7A"/>
          </a:solidFill>
          <a:ln xmlns:a="http://schemas.openxmlformats.org/drawingml/2006/main" w="0">
            <a:solidFill>
              <a:srgbClr val="506B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5A996-EB69-4CEB-A34D-99C01AAC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70688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C6A64"/>
                </a:solidFill>
              </a:defRPr>
            </a:pPr>
            <a:r>
              <a:rPr sz="1275" b="1">
                <a:solidFill>
                  <a:srgbClr val="6C6A64"/>
                </a:solidFill>
              </a:rPr>
              <a:t>Pourquoi cette équipe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01319-61FF-47AB-8F8E-C010D54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2781300"/>
            <a:ext cx="2087880" cy="2705100"/>
          </a:xfrm>
          <a:prstGeom xmlns:a="http://schemas.openxmlformats.org/drawingml/2006/main" prst="roundRect">
            <a:avLst>
              <a:gd name="adj" fmla="val 9124"/>
            </a:avLst>
          </a:prstGeom>
          <a:solidFill xmlns:a="http://schemas.openxmlformats.org/drawingml/2006/main">
            <a:srgbClr val="DCE6E9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D781B-17C2-4D48-B88E-BE81D6F1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" y="2971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A2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95161-A04E-4552-8690-1152EEB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" y="3467100"/>
            <a:ext cx="17068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B"/>
                </a:solidFill>
              </a:defRPr>
            </a:pPr>
            <a:r>
              <a:rPr sz="1725" b="1">
                <a:solidFill>
                  <a:srgbClr val="1D1D1B"/>
                </a:solidFill>
              </a:rPr>
              <a:t>L’Acheteur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EAA6C-EA2A-42A2-A8F5-9A76A8D3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" y="43243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B7A"/>
          </a:solidFill>
          <a:ln xmlns:a="http://schemas.openxmlformats.org/drawingml/2006/main" w="0">
            <a:solidFill>
              <a:srgbClr val="506B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09793-2E8C-4503-99AE-207AA527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" y="4552950"/>
            <a:ext cx="170688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C6A64"/>
                </a:solidFill>
              </a:defRPr>
            </a:pPr>
            <a:r>
              <a:rPr sz="1275" b="1">
                <a:solidFill>
                  <a:srgbClr val="6C6A64"/>
                </a:solidFill>
              </a:rPr>
              <a:t>Qui paie 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E0A0F-99B6-4AD5-B696-A732A09C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781300"/>
            <a:ext cx="2087880" cy="2705100"/>
          </a:xfrm>
          <a:prstGeom xmlns:a="http://schemas.openxmlformats.org/drawingml/2006/main" prst="roundRect">
            <a:avLst>
              <a:gd name="adj" fmla="val 91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984D9-B4C7-4344-A1BF-59583BA5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971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A3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4607B-8E76-42DF-92B5-6385C291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467100"/>
            <a:ext cx="17068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B"/>
                </a:solidFill>
              </a:defRPr>
            </a:pPr>
            <a:r>
              <a:rPr sz="1725" b="1">
                <a:solidFill>
                  <a:srgbClr val="1D1D1B"/>
                </a:solidFill>
              </a:rPr>
              <a:t>Le Déjà-Vu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A7012-2E23-4296-B858-16FF97A7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43243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B7A"/>
          </a:solidFill>
          <a:ln xmlns:a="http://schemas.openxmlformats.org/drawingml/2006/main" w="0">
            <a:solidFill>
              <a:srgbClr val="506B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97ED2-CC64-48FE-B9CB-EE59BA50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4552950"/>
            <a:ext cx="170688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C6A64"/>
                </a:solidFill>
              </a:defRPr>
            </a:pPr>
            <a:r>
              <a:rPr sz="1275" b="1">
                <a:solidFill>
                  <a:srgbClr val="6C6A64"/>
                </a:solidFill>
              </a:rPr>
              <a:t>Pourquoi changer 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87DDF-DCC1-4951-A23A-ABB14066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90" y="2781300"/>
            <a:ext cx="2087880" cy="2705100"/>
          </a:xfrm>
          <a:prstGeom xmlns:a="http://schemas.openxmlformats.org/drawingml/2006/main" prst="roundRect">
            <a:avLst>
              <a:gd name="adj" fmla="val 9124"/>
            </a:avLst>
          </a:prstGeom>
          <a:solidFill xmlns:a="http://schemas.openxmlformats.org/drawingml/2006/main">
            <a:srgbClr val="DCE6E9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7B11B-14A7-4246-B698-3623B40E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971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A4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398D2-57BA-48DA-840D-10DA6856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467100"/>
            <a:ext cx="17068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B"/>
                </a:solidFill>
              </a:defRPr>
            </a:pPr>
            <a:r>
              <a:rPr sz="1350" b="1">
                <a:solidFill>
                  <a:srgbClr val="1D1D1B"/>
                </a:solidFill>
              </a:rPr>
              <a:t>Le Constructeur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86F50-321D-45B6-83D8-3D5EDC27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43243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B7A"/>
          </a:solidFill>
          <a:ln xmlns:a="http://schemas.openxmlformats.org/drawingml/2006/main" w="0">
            <a:solidFill>
              <a:srgbClr val="506B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A1EED-3A14-4ECC-BA9A-DCEE2A12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4552950"/>
            <a:ext cx="170688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C6A64"/>
                </a:solidFill>
              </a:defRPr>
            </a:pPr>
            <a:r>
              <a:rPr sz="1275" b="1">
                <a:solidFill>
                  <a:srgbClr val="6C6A64"/>
                </a:solidFill>
              </a:rPr>
              <a:t>Qu’est-ce qui casse 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767220-5BE6-4780-85C6-25DFC62B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2781300"/>
            <a:ext cx="2087880" cy="2705100"/>
          </a:xfrm>
          <a:prstGeom xmlns:a="http://schemas.openxmlformats.org/drawingml/2006/main" prst="roundRect">
            <a:avLst>
              <a:gd name="adj" fmla="val 91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3AC866-F01F-4AE7-A0C6-427D13EA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971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A5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FEBD6-6189-4E26-860C-9506DA41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3467100"/>
            <a:ext cx="17068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B"/>
                </a:solidFill>
              </a:defRPr>
            </a:pPr>
            <a:r>
              <a:rPr sz="1725" b="1">
                <a:solidFill>
                  <a:srgbClr val="1D1D1B"/>
                </a:solidFill>
              </a:rPr>
              <a:t>Le Liquidateur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958C9-7B33-4C8A-ACC5-E2B2583F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43243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335"/>
          </a:solidFill>
          <a:ln xmlns:a="http://schemas.openxmlformats.org/drawingml/2006/main" w="0">
            <a:solidFill>
              <a:srgbClr val="C643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B8562-2193-4B37-AA76-B9B3E3E7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4552950"/>
            <a:ext cx="170688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C6A64"/>
                </a:solidFill>
              </a:defRPr>
            </a:pPr>
            <a:r>
              <a:rPr sz="1275" b="1">
                <a:solidFill>
                  <a:srgbClr val="6C6A64"/>
                </a:solidFill>
              </a:rPr>
              <a:t>Quand atteint-on zéro 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70D3F3-8391-4939-9508-1811CED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94CFEB-AB98-421A-8F22-2DFBEA99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06 / 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1DD650-FF2B-4AC0-ADEC-E841892A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29375"/>
            <a:ext cx="910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6A64"/>
                </a:solidFill>
              </a:defRPr>
            </a:pPr>
            <a:r>
              <a:rPr sz="750" b="1">
                <a:solidFill>
                  <a:srgbClr val="6C6A64"/>
                </a:solidFill>
              </a:rPr>
              <a:t>MAQUETTE SIMULÉE  ·  SANDBOX · DONNÉES FICTIVES  ·  AUCUN APPEL IA</a:t>
            </a:r>
          </a:p>
        </p:txBody>
      </p:sp>
    </p:spTree>
    <p:extLst>
      <p:ext uri="{BB962C8B-B14F-4D97-AF65-F5344CB8AC3E}">
        <p14:creationId xmlns:p14="http://schemas.microsoft.com/office/powerpoint/2010/main" val="510390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C7367-D369-4463-B039-F0462ECD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L’INSTRUMENTATION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BA825-0D10-4170-AF37-71C2310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B"/>
                </a:solidFill>
              </a:defRPr>
            </a:pPr>
            <a:r>
              <a:rPr sz="3300" b="1">
                <a:solidFill>
                  <a:srgbClr val="1D1D1B"/>
                </a:solidFill>
              </a:rPr>
              <a:t>Ce que le code devra établir. Ce qu’il ne pourra pas garantir.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6BB63-A479-4529-B807-B05090C7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A64"/>
                </a:solidFill>
              </a:defRPr>
            </a:pPr>
            <a:r>
              <a:rPr sz="1500" b="0">
                <a:solidFill>
                  <a:srgbClr val="6C6A64"/>
                </a:solidFill>
              </a:rPr>
              <a:t>Le contrat impose une citation littérale, un statut d’instruction par axe et l’aveu de ce que le dispositif n’a pas instruit.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17287-257D-42D5-BDF8-9DD67138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314950" cy="30670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DCE6E9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2BD49-787D-47D6-9236-B6678917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06B7A"/>
                </a:solidFill>
              </a:defRPr>
            </a:pPr>
            <a:r>
              <a:rPr sz="1050" b="1">
                <a:solidFill>
                  <a:srgbClr val="506B7A"/>
                </a:solidFill>
              </a:rPr>
              <a:t>CE QUE LE CODE DEVRA ÉTABLIR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E9EA7-7354-4340-8F1C-1AF31148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B"/>
                </a:solidFill>
              </a:defRPr>
            </a:pPr>
            <a:r>
              <a:rPr sz="1350" b="1">
                <a:solidFill>
                  <a:srgbClr val="1D1D1B"/>
                </a:solidFill>
              </a:rPr>
              <a:t>Cinq sorties complètes ou run non instruit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DED00-F250-42F3-B32F-10D01EC0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B"/>
                </a:solidFill>
              </a:defRPr>
            </a:pPr>
            <a:r>
              <a:rPr sz="1350" b="0">
                <a:solidFill>
                  <a:srgbClr val="1D1D1B"/>
                </a:solidFill>
              </a:rPr>
              <a:t>—  Citation présente dans la découpe reçue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7423C-0D77-4DC1-B4B2-F5B92005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B"/>
                </a:solidFill>
              </a:defRPr>
            </a:pPr>
            <a:r>
              <a:rPr sz="1350" b="0">
                <a:solidFill>
                  <a:srgbClr val="1D1D1B"/>
                </a:solidFill>
              </a:rPr>
              <a:t>—  Couverture explicite des six critères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92C03-1A59-4C44-A2CF-43F1888B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B"/>
                </a:solidFill>
              </a:defRPr>
            </a:pPr>
            <a:r>
              <a:rPr sz="1350" b="0">
                <a:solidFill>
                  <a:srgbClr val="1D1D1B"/>
                </a:solidFill>
              </a:rPr>
              <a:t>—  Artefacts du run identifiés dans un manifeste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CAAF3-1CC4-4B10-823E-725BC83E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314950" cy="30670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3D9D3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77E2E-682F-4186-939B-68A31CD8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4335"/>
                </a:solidFill>
              </a:defRPr>
            </a:pPr>
            <a:r>
              <a:rPr sz="1050" b="1">
                <a:solidFill>
                  <a:srgbClr val="C64335"/>
                </a:solidFill>
              </a:rPr>
              <a:t>CE QU’IL NE POURRA PAS ÉTABLIR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704CC-BFC4-4320-92AC-724EA28E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B"/>
                </a:solidFill>
              </a:defRPr>
            </a:pPr>
            <a:r>
              <a:rPr sz="1350" b="1">
                <a:solidFill>
                  <a:srgbClr val="1D1D1B"/>
                </a:solidFill>
              </a:rPr>
              <a:t>Qu’une citation soutient une bonne inférence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C060D-95A1-4782-8F98-370755F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B"/>
                </a:solidFill>
              </a:defRPr>
            </a:pPr>
            <a:r>
              <a:rPr sz="1350" b="0">
                <a:solidFill>
                  <a:srgbClr val="1D1D1B"/>
                </a:solidFill>
              </a:rPr>
              <a:t>—  Que le verdict prédit une décision du comité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05E58-C172-4B1B-BB81-6D1DDAB8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B"/>
                </a:solidFill>
              </a:defRPr>
            </a:pPr>
            <a:r>
              <a:rPr sz="1350" b="0">
                <a:solidFill>
                  <a:srgbClr val="1D1D1B"/>
                </a:solidFill>
              </a:rPr>
              <a:t>—  Que trois cas synthétiques généralisent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77F70-2EF3-4E39-A65F-2AE5F37A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10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B"/>
                </a:solidFill>
              </a:defRPr>
            </a:pPr>
            <a:r>
              <a:rPr sz="1350" b="0">
                <a:solidFill>
                  <a:srgbClr val="1D1D1B"/>
                </a:solidFill>
              </a:rPr>
              <a:t>—  Qu’un fournisseur est qualifié pour des decks réels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FB9D4-BC23-417F-A608-B56AD612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47E98-E00E-42F1-910E-200C29D3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07 / 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0F438-62E2-4244-A527-7F846A13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29375"/>
            <a:ext cx="910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6A64"/>
                </a:solidFill>
              </a:defRPr>
            </a:pPr>
            <a:r>
              <a:rPr sz="750" b="1">
                <a:solidFill>
                  <a:srgbClr val="6C6A64"/>
                </a:solidFill>
              </a:rPr>
              <a:t>MAQUETTE SIMULÉE  ·  SANDBOX · DONNÉES FICTIVES  ·  AUCUN APPEL IA</a:t>
            </a:r>
          </a:p>
        </p:txBody>
      </p:sp>
    </p:spTree>
    <p:extLst>
      <p:ext uri="{BB962C8B-B14F-4D97-AF65-F5344CB8AC3E}">
        <p14:creationId xmlns:p14="http://schemas.microsoft.com/office/powerpoint/2010/main" val="2138587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E9C66-2274-4F31-B53A-78BC301A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LA FRONTIÈRE DE DONNÉES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3037F-01E8-4D7E-8F35-09D2B14C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B"/>
                </a:solidFill>
              </a:defRPr>
            </a:pPr>
            <a:r>
              <a:rPr sz="3300" b="1">
                <a:solidFill>
                  <a:srgbClr val="1D1D1B"/>
                </a:solidFill>
              </a:rPr>
              <a:t>Aujourd’hui : zéro deck réel. Demain : une chaîne qualifiée.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EA26A-5D8A-4AF7-AEE0-7CB1F9F3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A64"/>
                </a:solidFill>
              </a:defRPr>
            </a:pPr>
            <a:r>
              <a:rPr sz="1500" b="0">
                <a:solidFill>
                  <a:srgbClr val="6C6A64"/>
                </a:solidFill>
              </a:rPr>
              <a:t>Le prototype public est un rejeu statique sur données fictives. Un deck réel n’entre dans le dispositif qu’après qualification technique et contractuelle de toute la chaîne.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11D46-5DBA-4726-92C7-A9637D94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48615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DCE6E9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DB656-CBA7-4E7D-B990-43937627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B"/>
                </a:solidFill>
              </a:defRPr>
            </a:pPr>
            <a:r>
              <a:rPr sz="1875" b="1">
                <a:solidFill>
                  <a:srgbClr val="1D1D1B"/>
                </a:solidFill>
              </a:rPr>
              <a:t>Démo QAMP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564DE-045B-4C71-93D0-D2545D95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B7A"/>
                </a:solidFill>
              </a:defRPr>
            </a:pPr>
            <a:r>
              <a:rPr sz="975" b="1">
                <a:solidFill>
                  <a:srgbClr val="506B7A"/>
                </a:solidFill>
              </a:rPr>
              <a:t>OUVERT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A39AE-A6DD-4B91-A6F8-FD0739DC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6A64"/>
                </a:solidFill>
              </a:defRPr>
            </a:pPr>
            <a:r>
              <a:rPr sz="1275" b="0">
                <a:solidFill>
                  <a:srgbClr val="6C6A64"/>
                </a:solidFill>
              </a:rPr>
              <a:t>SANDBOX · fixtures fictives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78C74-2C41-4584-958F-4A93C7D8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81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DAB4A-9F2D-433B-91C1-BA014B15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348615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3D9D3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50363-AA25-4660-AD76-5F55694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B"/>
                </a:solidFill>
              </a:defRPr>
            </a:pPr>
            <a:r>
              <a:rPr sz="1875" b="1">
                <a:solidFill>
                  <a:srgbClr val="1D1D1B"/>
                </a:solidFill>
              </a:rPr>
              <a:t>Qualification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CE7A5-0034-4856-903F-C04D087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338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4335"/>
                </a:solidFill>
              </a:defRPr>
            </a:pPr>
            <a:r>
              <a:rPr sz="975" b="1">
                <a:solidFill>
                  <a:srgbClr val="C64335"/>
                </a:solidFill>
              </a:rPr>
              <a:t>FERMÉ PAR DÉFAUT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31457-B97C-4669-9C96-7BEE8EE8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672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6A64"/>
                </a:solidFill>
              </a:defRPr>
            </a:pPr>
            <a:r>
              <a:rPr sz="1275" b="0">
                <a:solidFill>
                  <a:srgbClr val="6C6A64"/>
                </a:solidFill>
              </a:rPr>
              <a:t>Aucune donnée avant le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05708-45A7-4A3F-9B1C-93366272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81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F0399-0C46-473C-BE60-5D98A921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348615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B5757-2106-405B-83DD-625F0984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B"/>
                </a:solidFill>
              </a:defRPr>
            </a:pPr>
            <a:r>
              <a:rPr sz="1875" b="1">
                <a:solidFill>
                  <a:srgbClr val="1D1D1B"/>
                </a:solidFill>
              </a:rPr>
              <a:t>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CA891-94FB-403B-A330-40F73AF4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1D1B"/>
                </a:solidFill>
              </a:defRPr>
            </a:pPr>
            <a:r>
              <a:rPr sz="975" b="1">
                <a:solidFill>
                  <a:srgbClr val="1D1D1B"/>
                </a:solidFill>
              </a:rPr>
              <a:t>À CONSTRUIRE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464CA-9CD4-4C3E-B4B9-C4EA8CEF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6A64"/>
                </a:solidFill>
              </a:defRPr>
            </a:pPr>
            <a:r>
              <a:rPr sz="1275" b="0">
                <a:solidFill>
                  <a:srgbClr val="6C6A64"/>
                </a:solidFill>
              </a:rPr>
              <a:t>Environnement maîtrisé et qualifié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C5E6A-A5E4-4EF6-81B1-FA217F5B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64335"/>
                </a:solidFill>
              </a:defRPr>
            </a:pPr>
            <a:r>
              <a:rPr sz="1200" b="1">
                <a:solidFill>
                  <a:srgbClr val="C64335"/>
                </a:solidFill>
              </a:rPr>
              <a:t>Local protège une clé. Il ne protège pas une donnée envoyée à un modèle distant.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6C807-A205-41E8-978A-B5DA0F4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D8650-5D18-4B33-A688-A55B64AF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08 / 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BD0CA-C686-45F2-BCFE-F666E141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29375"/>
            <a:ext cx="910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6A64"/>
                </a:solidFill>
              </a:defRPr>
            </a:pPr>
            <a:r>
              <a:rPr sz="750" b="1">
                <a:solidFill>
                  <a:srgbClr val="6C6A64"/>
                </a:solidFill>
              </a:rPr>
              <a:t>MAQUETTE SIMULÉE  ·  SANDBOX · DONNÉES FICTIVES  ·  AUCUN APPEL IA</a:t>
            </a:r>
          </a:p>
        </p:txBody>
      </p:sp>
    </p:spTree>
    <p:extLst>
      <p:ext uri="{BB962C8B-B14F-4D97-AF65-F5344CB8AC3E}">
        <p14:creationId xmlns:p14="http://schemas.microsoft.com/office/powerpoint/2010/main" val="1903970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31CC6-9B66-460E-88B7-0B09CD9D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CE QUE NOUS SOUMETTONS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E0BFD-D333-44B8-AA9D-8D236960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B"/>
                </a:solidFill>
              </a:defRPr>
            </a:pPr>
            <a:r>
              <a:rPr sz="2850" b="1">
                <a:solidFill>
                  <a:srgbClr val="1D1D1B"/>
                </a:solidFill>
              </a:rPr>
              <a:t>Préparer la question qui fait tomber le pitch. Sans décider à la place du comité.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0CF00-8E28-420C-AEE4-D391A25D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991350" cy="2800350"/>
          </a:xfrm>
          <a:prstGeom xmlns:a="http://schemas.openxmlformats.org/drawingml/2006/main" prst="roundRect">
            <a:avLst>
              <a:gd name="adj" fmla="val 8844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9525">
            <a:solidFill>
              <a:srgbClr val="1D1D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AF7E0-3D4E-4B87-ACA4-3A9A4AE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624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DF8"/>
                </a:solidFill>
              </a:defRPr>
            </a:pPr>
            <a:r>
              <a:rPr sz="2325" b="1">
                <a:solidFill>
                  <a:srgbClr val="FFFDF8"/>
                </a:solidFill>
              </a:rPr>
              <a:t>Jugez la méthode sur sa capacité à rendre visibles les ruptures, les désaccords et les zones non instruites — pas comme une prédiction de survie d’une startup.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5C983-75C3-4A76-B3D5-FB5363EA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76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CC0F2-0893-4B87-A513-BDF275AF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B"/>
                </a:solidFill>
              </a:defRPr>
            </a:pPr>
            <a:r>
              <a:rPr sz="1350" b="1">
                <a:solidFill>
                  <a:srgbClr val="1D1D1B"/>
                </a:solidFill>
              </a:rPr>
              <a:t>Un format que le SUM peut lire debout avant un entretien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2BC22-C4E1-48FF-A54F-30B255EC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3F5E3-0825-492E-B60D-9A16D06C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B"/>
                </a:solidFill>
              </a:defRPr>
            </a:pPr>
            <a:r>
              <a:rPr sz="1350" b="0">
                <a:solidFill>
                  <a:srgbClr val="1D1D1B"/>
                </a:solidFill>
              </a:rPr>
              <a:t>Une démonstration reproductible en rejeu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8821D-3180-4B8F-8894-F6076483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4335"/>
                </a:solidFill>
              </a:defRPr>
            </a:pPr>
            <a:r>
              <a:rPr sz="900" b="1">
                <a:solidFill>
                  <a:srgbClr val="C6433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DAE81-6101-4AF3-968B-F44F5EB1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B"/>
                </a:solidFill>
              </a:defRPr>
            </a:pPr>
            <a:r>
              <a:rPr sz="1350" b="0">
                <a:solidFill>
                  <a:srgbClr val="1D1D1B"/>
                </a:solidFill>
              </a:rPr>
              <a:t>Une méthode portable vers un environnement qualifié, après requalification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7CDC9-084C-4C40-8D94-E5502231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1020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</a:defRPr>
            </a:pPr>
            <a:r>
              <a:rPr sz="900" b="1">
                <a:solidFill>
                  <a:srgbClr val="FFFDF8"/>
                </a:solidFill>
              </a:rPr>
              <a:t>OUVRIR LA MAQUETTE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0968E-98C1-4708-BD90-B834DD74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solidFill>
              <a:srgbClr val="D7D1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8C671-B95F-4357-AC6A-CBCB8FA4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A64"/>
                </a:solidFill>
              </a:defRPr>
            </a:pPr>
            <a:r>
              <a:rPr sz="825" b="1">
                <a:solidFill>
                  <a:srgbClr val="6C6A64"/>
                </a:solidFill>
              </a:rPr>
              <a:t>09 / 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4D57A-FD60-41CC-9E30-94FF4B42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29375"/>
            <a:ext cx="910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6A64"/>
                </a:solidFill>
              </a:defRPr>
            </a:pPr>
            <a:r>
              <a:rPr sz="750" b="1">
                <a:solidFill>
                  <a:srgbClr val="6C6A64"/>
                </a:solidFill>
              </a:rPr>
              <a:t>MAQUETTE SIMULÉE  ·  SANDBOX · DONNÉES FICTIVES  ·  AUCUN APPEL IA</a:t>
            </a:r>
          </a:p>
        </p:txBody>
      </p:sp>
    </p:spTree>
    <p:extLst>
      <p:ext uri="{BB962C8B-B14F-4D97-AF65-F5344CB8AC3E}">
        <p14:creationId xmlns:p14="http://schemas.microsoft.com/office/powerpoint/2010/main" val="1100044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2026-08-21T10:56:21.0950000Z</dcterms:created>
  <dcterms:modified xsi:type="dcterms:W3CDTF">2026-08-21T10:56:21.0950000Z</dcterms:modified>
</coreProperties>
</file>